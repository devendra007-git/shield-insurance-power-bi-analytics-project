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C4708-48B6-93C8-8287-4A47C1050D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A0438B-4215-CA0A-CD0C-777062FB1C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6A1E5-31DC-181A-9535-0E94237A3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254F-3065-4B47-8589-11FBF82B755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989BB-2A84-5668-2343-9B5BE3599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89ACA-5964-DBC5-6176-7A9D6A07F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BB8CC-25B2-4523-BE9F-89EB47794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069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FB5F6-220C-5B4C-BEE7-A2B035972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0CC0E-5A49-90E9-E197-A0CBEE70F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D7D36-9382-C04F-ACCF-B3E142DE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254F-3065-4B47-8589-11FBF82B755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DDED8-C504-91E6-2D50-ADFB3C179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EB426-590B-6005-7561-E169D84E7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BB8CC-25B2-4523-BE9F-89EB47794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66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F91A2-8742-36D8-8DC9-2F4CDCF3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79DC3-55B5-FDED-0E94-0AB8DCD02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BBC37-A97D-6E75-C880-5132D861B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254F-3065-4B47-8589-11FBF82B755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B2BC8-8A0C-368A-53E6-49B9A1251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D0664-7A1D-D1C6-EF4C-BBEAFB63D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BB8CC-25B2-4523-BE9F-89EB47794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317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3F877-1ACB-1949-2EC8-94C631D05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54D1D-1585-F959-DA60-0F1C04D74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5AB0CC-B6D3-3AB2-9697-DA82B35AD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906202-D53F-6927-33E6-D40FB339C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254F-3065-4B47-8589-11FBF82B755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A0A33-FDC4-CE9A-A97B-E26294185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63B8E-A39F-F00B-8425-6D087B8AC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BB8CC-25B2-4523-BE9F-89EB47794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487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C0A50-5591-8ECE-F29B-8037E471F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55D6F-8DF1-FA82-9324-EDBBDBFD9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94D7EE-5FE6-7F58-A802-304FA10CB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CD0ADD-950F-10BA-8FE5-3B1129636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6AEE86-DEA8-596E-BD65-79840E88D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866601-2051-2D40-DD95-5C3BFFA13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254F-3065-4B47-8589-11FBF82B755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2E0E84-BED5-B663-3706-1968CF747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761722-52F2-6E46-B038-3E6215A3A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BB8CC-25B2-4523-BE9F-89EB47794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09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1D70F-BAA7-FFF2-E90B-9C0892FD5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F78F01-BB96-B3D0-7D96-1A30BA4D7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254F-3065-4B47-8589-11FBF82B755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89F70A-36B7-D95B-CF47-152EAF4A6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2CB5AC-DFE9-5447-3A75-C74B0106A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BB8CC-25B2-4523-BE9F-89EB47794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958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440247-632A-F53A-4A40-6C2440335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254F-3065-4B47-8589-11FBF82B755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E2E15D-40F5-E493-FE62-52565C065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AF716-FAEB-D594-6AC6-EB56B6AD7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BB8CC-25B2-4523-BE9F-89EB47794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589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63C66-2D18-8629-6DCC-1A80E134B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89514-B701-B188-7AF9-D6608E5ED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64DDE-E484-7606-AA69-0DC9D8633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8FEB4-620D-D8CE-0AB5-4332A71C5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254F-3065-4B47-8589-11FBF82B755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928D3-DB58-C3CD-5505-BDB870EF2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D719C-D209-E6FB-CEA7-ACF5294E4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BB8CC-25B2-4523-BE9F-89EB47794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950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49EFE-6E00-ABB5-F5AF-1A3C3B049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F3563F-2C5F-53D5-461F-01272484E6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72E48E-FE45-D3D0-7525-1520E8F29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5CE09-3172-2156-CA61-7E3684D86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254F-3065-4B47-8589-11FBF82B755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4F17F-F0B6-2268-51C6-AF722F5B6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D00AB-57CE-8C09-44EA-2F45F2622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BB8CC-25B2-4523-BE9F-89EB47794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725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89E15-7788-6083-DBA6-4C846432E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49A526-8DFF-2E91-0F1D-D48A23916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2F1E6-72E6-6BFA-B5BF-2C2658294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254F-3065-4B47-8589-11FBF82B755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169C4-DF79-2E24-A95C-1934FE2E4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21B22-ABDB-BCAC-33CF-5656E0E8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BB8CC-25B2-4523-BE9F-89EB47794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57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BC33E6-3F6E-7621-6E5F-53A3E4CC1B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0394EF-990D-5343-6BC3-3F1F53EC2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08870-7586-3885-F409-CF67DBF99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254F-3065-4B47-8589-11FBF82B755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238D4-75A0-49CF-820E-FBB466A0E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3EAA8-ABB0-71CB-0C50-C0641E878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BB8CC-25B2-4523-BE9F-89EB47794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96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60F12A-5828-3389-57D4-25CE57EAA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16DD02-F224-6C60-0376-0FFBCCD8E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6925F-D139-2818-7078-8838049E1E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4254F-3065-4B47-8589-11FBF82B755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7285F-CEE3-4D2A-806B-BE2942058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02BD2-5E23-D686-A728-4AC7B9EAC0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BB8CC-25B2-4523-BE9F-89EB47794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587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775DC-E837-003F-D052-FB7E21B75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6851" y="772319"/>
            <a:ext cx="9940414" cy="16557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Shield insurance </a:t>
            </a:r>
            <a:b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mode &amp; Customer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082DD-CDEC-B46A-6EE6-BA6D626928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9534" y="2913781"/>
            <a:ext cx="9645446" cy="1655762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 : Microsoft power Bi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Domain: Insurance Analytics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:Sales mode performance ,customer segmentation , revenue and customer trends 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C9E909E-C5A8-6281-9D5A-1CFE9C7A6A0A}"/>
              </a:ext>
            </a:extLst>
          </p:cNvPr>
          <p:cNvSpPr txBox="1">
            <a:spLocks/>
          </p:cNvSpPr>
          <p:nvPr/>
        </p:nvSpPr>
        <p:spPr>
          <a:xfrm>
            <a:off x="5466735" y="4855652"/>
            <a:ext cx="5914104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</a:p>
          <a:p>
            <a:pPr algn="l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Devendra kumar</a:t>
            </a:r>
          </a:p>
          <a:p>
            <a:pPr algn="l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https://www.linkedin.com/in/devendra-analyst</a:t>
            </a:r>
          </a:p>
        </p:txBody>
      </p:sp>
    </p:spTree>
    <p:extLst>
      <p:ext uri="{BB962C8B-B14F-4D97-AF65-F5344CB8AC3E}">
        <p14:creationId xmlns:p14="http://schemas.microsoft.com/office/powerpoint/2010/main" val="1883844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DD86B-6724-F0E3-2DE5-DA0E8C4F3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Service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F9D04-E6AE-D861-2E9C-2489664D8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1198"/>
            <a:ext cx="10515600" cy="188113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Shield insurance provide a variety of insurance policies including </a:t>
            </a:r>
            <a:r>
              <a:rPr lang="en-US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 ,life, and general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insurance  </a:t>
            </a:r>
          </a:p>
        </p:txBody>
      </p:sp>
    </p:spTree>
    <p:extLst>
      <p:ext uri="{BB962C8B-B14F-4D97-AF65-F5344CB8AC3E}">
        <p14:creationId xmlns:p14="http://schemas.microsoft.com/office/powerpoint/2010/main" val="4060902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19DD2-606C-E818-B781-F986552AD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7354" y="365125"/>
            <a:ext cx="10026445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24611-816F-016D-D45B-FBB97B239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0056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and premium (payment)tracking's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 of policies and claims</a:t>
            </a:r>
          </a:p>
        </p:txBody>
      </p:sp>
    </p:spTree>
    <p:extLst>
      <p:ext uri="{BB962C8B-B14F-4D97-AF65-F5344CB8AC3E}">
        <p14:creationId xmlns:p14="http://schemas.microsoft.com/office/powerpoint/2010/main" val="2287854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A52A0-D1AE-4E1B-C491-B6280D700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Shield insurance uses multiple sales distribution channels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CDF52-764E-F1F7-72B8-FD6F066DB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3276"/>
            <a:ext cx="10515600" cy="3818091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 –agent :Policies sold through licensed agents who assist customers during purchase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Offline-direct : Policies sold directly at company branches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Online-Apps: Policies purchased through the company’s mobile application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Online-website: Policies purchased through the company’s official website</a:t>
            </a:r>
          </a:p>
        </p:txBody>
      </p:sp>
    </p:spTree>
    <p:extLst>
      <p:ext uri="{BB962C8B-B14F-4D97-AF65-F5344CB8AC3E}">
        <p14:creationId xmlns:p14="http://schemas.microsoft.com/office/powerpoint/2010/main" val="15617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E3909-413C-14E8-686E-61284CC1E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Customer 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2A936-20B2-7715-7333-A18C7189D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Delhi NCR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Hyderabad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Indore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Chennai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Mumbai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1550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7D264-5DEC-2507-2DED-A4B43C8D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3236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Policies Offered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C7CB4-D0BB-2734-C64C-4C75075D6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7187"/>
            <a:ext cx="10515600" cy="483977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Each policy has a unique </a:t>
            </a:r>
            <a:r>
              <a:rPr lang="en-US" dirty="0" err="1">
                <a:solidFill>
                  <a:schemeClr val="bg1"/>
                </a:solidFill>
              </a:rPr>
              <a:t>policy_id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POL4321HEL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POL4331HEL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POL3309HEL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POL5319HEL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POL6303HEL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POLG093HEL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POL9221HEL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POL1048HEL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POL2005HEL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Includes a base cover amount (sum insured)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Associated with a base premium amount (INR) to be paid by the customer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Tracked across dates, customers, and sales modes</a:t>
            </a:r>
          </a:p>
        </p:txBody>
      </p:sp>
    </p:spTree>
    <p:extLst>
      <p:ext uri="{BB962C8B-B14F-4D97-AF65-F5344CB8AC3E}">
        <p14:creationId xmlns:p14="http://schemas.microsoft.com/office/powerpoint/2010/main" val="3819633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946DA-226D-F5AE-DC07-3B9707424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Main focus /problem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EDB08-53BE-9889-552D-B4B6B7A29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Top-performance Sales modes by revenue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Trends In customer acquisition and revenue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distribution by age group and city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High-demand policies and age segments </a:t>
            </a:r>
          </a:p>
        </p:txBody>
      </p:sp>
    </p:spTree>
    <p:extLst>
      <p:ext uri="{BB962C8B-B14F-4D97-AF65-F5344CB8AC3E}">
        <p14:creationId xmlns:p14="http://schemas.microsoft.com/office/powerpoint/2010/main" val="2383421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EEF63-67C8-4B77-5C22-ABADCDD97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link 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89AC8-718E-4AE8-7013-CDF51FA8A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354" y="2199251"/>
            <a:ext cx="10515600" cy="160337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https://app.powerbi.com/groups/me/reports/424addbf-5ec0-48bf-abbc-9e86d41ec127/a643b053bc0b018ec54e?experience=power-bi</a:t>
            </a:r>
          </a:p>
        </p:txBody>
      </p:sp>
    </p:spTree>
    <p:extLst>
      <p:ext uri="{BB962C8B-B14F-4D97-AF65-F5344CB8AC3E}">
        <p14:creationId xmlns:p14="http://schemas.microsoft.com/office/powerpoint/2010/main" val="131677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B2528-59CB-852D-67B9-0467ACAF9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Business Performance</a:t>
            </a:r>
            <a:br>
              <a:rPr lang="en-US" alt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E876B-74E0-46A4-6451-64A6818A1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endParaRPr lang="en-US" altLang="en-GB" dirty="0">
              <a:solidFill>
                <a:schemeClr val="bg1"/>
              </a:solidFill>
            </a:endParaRPr>
          </a:p>
          <a:p>
            <a:pPr indent="0">
              <a:lnSpc>
                <a:spcPct val="100000"/>
              </a:lnSpc>
              <a:buNone/>
            </a:pPr>
            <a:endParaRPr lang="en-US" altLang="en-GB" dirty="0">
              <a:solidFill>
                <a:schemeClr val="bg1"/>
              </a:solidFill>
            </a:endParaRPr>
          </a:p>
          <a:p>
            <a:pPr indent="0">
              <a:lnSpc>
                <a:spcPct val="100000"/>
              </a:lnSpc>
              <a:buNone/>
            </a:pPr>
            <a:endParaRPr lang="en-US" altLang="en-GB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GB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is performing strongly in terms of revenue and customer volume.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6CA8BA-B3EF-2B53-C89F-48B306BBD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095" y="1690688"/>
            <a:ext cx="7920355" cy="161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764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62C54-D68F-059B-DDE2-94D6AE982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Distribution</a:t>
            </a:r>
            <a:br>
              <a:rPr lang="en-US" alt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0AB919-88C6-71A9-764F-2250A6DF10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27906"/>
            <a:ext cx="10515600" cy="28729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C29040-7220-F970-4060-0BEE39B86D3D}"/>
              </a:ext>
            </a:extLst>
          </p:cNvPr>
          <p:cNvSpPr txBox="1"/>
          <p:nvPr/>
        </p:nvSpPr>
        <p:spPr>
          <a:xfrm>
            <a:off x="838199" y="4071370"/>
            <a:ext cx="947583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GB" b="1" dirty="0">
                <a:solidFill>
                  <a:schemeClr val="bg1"/>
                </a:solidFill>
              </a:rPr>
              <a:t>Age Group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 dirty="0">
                <a:solidFill>
                  <a:schemeClr val="bg1"/>
                </a:solidFill>
              </a:rPr>
              <a:t>31–40 age group dominates in both revenue (</a:t>
            </a:r>
            <a:r>
              <a:rPr lang="en-US" altLang="en-US" b="1" dirty="0">
                <a:solidFill>
                  <a:schemeClr val="bg1"/>
                </a:solidFill>
              </a:rPr>
              <a:t>₹</a:t>
            </a:r>
            <a:r>
              <a:rPr lang="en-US" altLang="en-GB" b="1" dirty="0">
                <a:solidFill>
                  <a:schemeClr val="bg1"/>
                </a:solidFill>
              </a:rPr>
              <a:t>311M) and customer count (10.4K).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 dirty="0">
                <a:solidFill>
                  <a:schemeClr val="bg1"/>
                </a:solidFill>
              </a:rPr>
              <a:t>39% of customers are aged 31–50 (10.5K + 6K customers).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 b="1" dirty="0">
                <a:solidFill>
                  <a:schemeClr val="bg1"/>
                </a:solidFill>
              </a:rPr>
              <a:t>      </a:t>
            </a:r>
            <a:r>
              <a:rPr lang="en-US" altLang="en-GB" b="1" dirty="0">
                <a:solidFill>
                  <a:schemeClr val="bg1"/>
                </a:solidFill>
              </a:rPr>
              <a:t>They generate ~</a:t>
            </a:r>
            <a:r>
              <a:rPr lang="en-US" altLang="en-US" b="1" dirty="0">
                <a:solidFill>
                  <a:schemeClr val="bg1"/>
                </a:solidFill>
              </a:rPr>
              <a:t>₹</a:t>
            </a:r>
            <a:r>
              <a:rPr lang="en-US" altLang="en-GB" b="1" dirty="0">
                <a:solidFill>
                  <a:schemeClr val="bg1"/>
                </a:solidFill>
              </a:rPr>
              <a:t>5</a:t>
            </a:r>
            <a:r>
              <a:rPr lang="en-IN" altLang="en-US" b="1" dirty="0">
                <a:solidFill>
                  <a:schemeClr val="bg1"/>
                </a:solidFill>
              </a:rPr>
              <a:t>3</a:t>
            </a:r>
            <a:r>
              <a:rPr lang="en-US" altLang="en-GB" b="1" dirty="0">
                <a:solidFill>
                  <a:schemeClr val="bg1"/>
                </a:solidFill>
              </a:rPr>
              <a:t>0M+ in premium (over 5</a:t>
            </a:r>
            <a:r>
              <a:rPr lang="en-IN" altLang="en-US" b="1" dirty="0">
                <a:solidFill>
                  <a:schemeClr val="bg1"/>
                </a:solidFill>
              </a:rPr>
              <a:t>3</a:t>
            </a:r>
            <a:r>
              <a:rPr lang="en-US" altLang="en-GB" b="1" dirty="0">
                <a:solidFill>
                  <a:schemeClr val="bg1"/>
                </a:solidFill>
              </a:rPr>
              <a:t>% of total revenue)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GB" b="1" dirty="0">
                <a:solidFill>
                  <a:schemeClr val="bg1"/>
                </a:solidFill>
              </a:rPr>
              <a:t>.</a:t>
            </a:r>
            <a:r>
              <a:rPr lang="en-IN" altLang="en-US" b="1" dirty="0">
                <a:solidFill>
                  <a:schemeClr val="bg1"/>
                </a:solidFill>
              </a:rPr>
              <a:t>    </a:t>
            </a:r>
            <a:r>
              <a:rPr lang="en-US" altLang="en-GB" b="1" dirty="0">
                <a:solidFill>
                  <a:schemeClr val="bg1"/>
                </a:solidFill>
              </a:rPr>
              <a:t>18–24 group has lowest engagement (</a:t>
            </a:r>
            <a:r>
              <a:rPr lang="en-US" altLang="en-US" b="1" dirty="0">
                <a:solidFill>
                  <a:schemeClr val="bg1"/>
                </a:solidFill>
              </a:rPr>
              <a:t>₹25</a:t>
            </a:r>
            <a:r>
              <a:rPr lang="en-US" altLang="en-GB" b="1" dirty="0">
                <a:solidFill>
                  <a:schemeClr val="bg1"/>
                </a:solidFill>
              </a:rPr>
              <a:t>M, 1.8k customers).</a:t>
            </a:r>
          </a:p>
          <a:p>
            <a:endParaRPr lang="en-US" altLang="en-GB" b="1" dirty="0">
              <a:solidFill>
                <a:schemeClr val="bg1"/>
              </a:solidFill>
            </a:endParaRPr>
          </a:p>
          <a:p>
            <a:r>
              <a:rPr lang="en-US" altLang="en-GB" b="1" dirty="0">
                <a:solidFill>
                  <a:schemeClr val="bg1"/>
                </a:solidFill>
              </a:rPr>
              <a:t>Recommendation: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 dirty="0">
                <a:solidFill>
                  <a:schemeClr val="bg1"/>
                </a:solidFill>
              </a:rPr>
              <a:t>Focus resources and offers on 31–40 segment for short-term gains.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 dirty="0">
                <a:solidFill>
                  <a:schemeClr val="bg1"/>
                </a:solidFill>
              </a:rPr>
              <a:t>Experiment with youth-targeted policies, gamification, or student bundles for 18–24 group.</a:t>
            </a:r>
          </a:p>
        </p:txBody>
      </p:sp>
    </p:spTree>
    <p:extLst>
      <p:ext uri="{BB962C8B-B14F-4D97-AF65-F5344CB8AC3E}">
        <p14:creationId xmlns:p14="http://schemas.microsoft.com/office/powerpoint/2010/main" val="3571927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DACE5-D6BA-9E19-353E-462A7485F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4287"/>
            <a:ext cx="10515600" cy="775417"/>
          </a:xfrm>
        </p:spPr>
        <p:txBody>
          <a:bodyPr>
            <a:normAutofit fontScale="90000"/>
          </a:bodyPr>
          <a:lstStyle/>
          <a:p>
            <a:r>
              <a:rPr lang="en-US" altLang="en-GB" b="1" dirty="0">
                <a:solidFill>
                  <a:schemeClr val="bg1"/>
                </a:solidFill>
                <a:sym typeface="+mn-ea"/>
              </a:rPr>
              <a:t>Customer Distribution</a:t>
            </a:r>
            <a:r>
              <a:rPr lang="en-IN" altLang="en-US" b="1" dirty="0">
                <a:solidFill>
                  <a:schemeClr val="bg1"/>
                </a:solidFill>
                <a:sym typeface="+mn-ea"/>
              </a:rPr>
              <a:t> by city and age</a:t>
            </a:r>
            <a:br>
              <a:rPr lang="en-IN" altLang="en-US" b="1" dirty="0">
                <a:solidFill>
                  <a:schemeClr val="bg1"/>
                </a:solidFill>
                <a:sym typeface="+mn-ea"/>
              </a:rPr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0356A35-6C32-8866-339F-E2A5B671C6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762" r="9743"/>
          <a:stretch>
            <a:fillRect/>
          </a:stretch>
        </p:blipFill>
        <p:spPr>
          <a:xfrm>
            <a:off x="838200" y="1189704"/>
            <a:ext cx="5611761" cy="5358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AC136B-15D1-23F7-5D35-53D1A7BA5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956" y="1189704"/>
            <a:ext cx="3696216" cy="16956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E94772-902B-1959-F7DB-9028A1780363}"/>
              </a:ext>
            </a:extLst>
          </p:cNvPr>
          <p:cNvSpPr txBox="1"/>
          <p:nvPr/>
        </p:nvSpPr>
        <p:spPr>
          <a:xfrm>
            <a:off x="6449961" y="3068419"/>
            <a:ext cx="574203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Delhi emerges as the highest revenue-contributing city with </a:t>
            </a:r>
            <a:r>
              <a:rPr lang="en-US" b="1" dirty="0">
                <a:solidFill>
                  <a:schemeClr val="bg1"/>
                </a:solidFill>
              </a:rPr>
              <a:t>₹401 Mn</a:t>
            </a:r>
            <a:r>
              <a:rPr lang="en-US" dirty="0">
                <a:solidFill>
                  <a:schemeClr val="bg1"/>
                </a:solidFill>
              </a:rPr>
              <a:t>, followed closely by Mumbai, highlighting a strong concentration of revenue generation in major metropolitan markets.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Recommendations</a:t>
            </a:r>
          </a:p>
          <a:p>
            <a:r>
              <a:rPr lang="en-US" b="1" dirty="0">
                <a:solidFill>
                  <a:schemeClr val="bg1"/>
                </a:solidFill>
              </a:rPr>
              <a:t>Implement city-specific marketing strategies</a:t>
            </a:r>
            <a:r>
              <a:rPr lang="en-US" dirty="0">
                <a:solidFill>
                  <a:schemeClr val="bg1"/>
                </a:solidFill>
              </a:rPr>
              <a:t> in high revenue-per-capita cities to maximize return on marketing investment and strengthen brand penetration.</a:t>
            </a:r>
          </a:p>
          <a:p>
            <a:r>
              <a:rPr lang="en-US" b="1" dirty="0">
                <a:solidFill>
                  <a:schemeClr val="bg1"/>
                </a:solidFill>
              </a:rPr>
              <a:t>Establish localized partnerships and agent networks</a:t>
            </a:r>
            <a:r>
              <a:rPr lang="en-US" dirty="0">
                <a:solidFill>
                  <a:schemeClr val="bg1"/>
                </a:solidFill>
              </a:rPr>
              <a:t> in top-performing cities to expand reach, improve customer acquisition, and drive sustainable revenue growth.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367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00B4F-2286-BF7C-9057-EE1B26A42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&amp; Revenue Trend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0C4453-C544-FF4D-4D25-3E687C9C8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81831"/>
            <a:ext cx="10515600" cy="1595131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Revenue is highest in </a:t>
            </a:r>
            <a:r>
              <a:rPr lang="en-US" b="1" dirty="0">
                <a:solidFill>
                  <a:schemeClr val="bg1"/>
                </a:solidFill>
              </a:rPr>
              <a:t>March</a:t>
            </a:r>
            <a:r>
              <a:rPr lang="en-US" dirty="0">
                <a:solidFill>
                  <a:schemeClr val="bg1"/>
                </a:solidFill>
              </a:rPr>
              <a:t>, likely due to end-of-financial-year buying. A drop is seen in </a:t>
            </a:r>
            <a:r>
              <a:rPr lang="en-US" b="1" dirty="0">
                <a:solidFill>
                  <a:schemeClr val="bg1"/>
                </a:solidFill>
              </a:rPr>
              <a:t>April</a:t>
            </a:r>
            <a:r>
              <a:rPr lang="en-US" dirty="0">
                <a:solidFill>
                  <a:schemeClr val="bg1"/>
                </a:solidFill>
              </a:rPr>
              <a:t>, which may be caused by seasonal factors or fewer renewals.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5ACA4EC2-E508-82B5-45A1-2D917AF09F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507"/>
          <a:stretch>
            <a:fillRect/>
          </a:stretch>
        </p:blipFill>
        <p:spPr>
          <a:xfrm>
            <a:off x="1779639" y="1397542"/>
            <a:ext cx="4569131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910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2FF4B-ACBB-4FA3-C1B2-DD329942A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1727"/>
          </a:xfrm>
        </p:spPr>
        <p:txBody>
          <a:bodyPr/>
          <a:lstStyle/>
          <a:p>
            <a:r>
              <a:rPr lang="en-US" alt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Channel Performance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33F542-5525-C34B-3E87-968A8E87F0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56852"/>
            <a:ext cx="10269383" cy="2715004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9BC81234-2DAC-F60E-E787-F7B58443E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768" y="4186420"/>
            <a:ext cx="1082531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Offline–Agent channel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is the top revenue driver, contributing nearly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56% of total revenue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showing strong customer trust and conversion.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Online App and Website channels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together generate about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29% of revenue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and offer lower operational costs with high scalability potential.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Offline-Direct channel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is mainly effective for bulk and corporate sales but shows lower efficiency in retail segments.</a:t>
            </a:r>
          </a:p>
        </p:txBody>
      </p:sp>
    </p:spTree>
    <p:extLst>
      <p:ext uri="{BB962C8B-B14F-4D97-AF65-F5344CB8AC3E}">
        <p14:creationId xmlns:p14="http://schemas.microsoft.com/office/powerpoint/2010/main" val="3082317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9C379-CB7D-50B3-8A68-AEE7DEF28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GB" b="1" dirty="0">
                <a:solidFill>
                  <a:schemeClr val="bg1"/>
                </a:solidFill>
              </a:rPr>
              <a:t>Age Group Analysis by Sales mode</a:t>
            </a:r>
            <a:br>
              <a:rPr lang="en-IN" altLang="en-GB" b="1" dirty="0">
                <a:solidFill>
                  <a:schemeClr val="bg1"/>
                </a:solidFill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A232D6-DB9B-FE10-106D-52A180A803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5931" y="1042219"/>
            <a:ext cx="8826997" cy="30511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80492D-BA16-631D-176A-3BE8E57B0162}"/>
              </a:ext>
            </a:extLst>
          </p:cNvPr>
          <p:cNvSpPr txBox="1"/>
          <p:nvPr/>
        </p:nvSpPr>
        <p:spPr>
          <a:xfrm>
            <a:off x="965931" y="4264261"/>
            <a:ext cx="100461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Younger users (18–30)</a:t>
            </a:r>
            <a:r>
              <a:rPr lang="en-US" dirty="0">
                <a:solidFill>
                  <a:schemeClr val="bg1"/>
                </a:solidFill>
              </a:rPr>
              <a:t> show a strong preference for the </a:t>
            </a:r>
            <a:r>
              <a:rPr lang="en-US" b="1" dirty="0">
                <a:solidFill>
                  <a:schemeClr val="bg1"/>
                </a:solidFill>
              </a:rPr>
              <a:t>Online App channel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Older users (41+)</a:t>
            </a:r>
            <a:r>
              <a:rPr lang="en-US" dirty="0">
                <a:solidFill>
                  <a:schemeClr val="bg1"/>
                </a:solidFill>
              </a:rPr>
              <a:t> primarily prefer the </a:t>
            </a:r>
            <a:r>
              <a:rPr lang="en-US" b="1" dirty="0">
                <a:solidFill>
                  <a:schemeClr val="bg1"/>
                </a:solidFill>
              </a:rPr>
              <a:t>Offline Agent channel</a:t>
            </a:r>
            <a:r>
              <a:rPr lang="en-US" dirty="0">
                <a:solidFill>
                  <a:schemeClr val="bg1"/>
                </a:solidFill>
              </a:rPr>
              <a:t>, indicating higher trust in human-assisted interactions.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Online App and Website channels are currently underutilized</a:t>
            </a:r>
            <a:r>
              <a:rPr lang="en-US" dirty="0">
                <a:solidFill>
                  <a:schemeClr val="bg1"/>
                </a:solidFill>
              </a:rPr>
              <a:t>, but have strong growth potential, especially among younger segments.</a:t>
            </a:r>
          </a:p>
        </p:txBody>
      </p:sp>
    </p:spTree>
    <p:extLst>
      <p:ext uri="{BB962C8B-B14F-4D97-AF65-F5344CB8AC3E}">
        <p14:creationId xmlns:p14="http://schemas.microsoft.com/office/powerpoint/2010/main" val="796236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0F058-C92D-C7F6-A0E3-B0465C6A4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Sales Performance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2E5A31-C43C-39ED-B5B3-4E4098451F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8420" y="1253331"/>
            <a:ext cx="7116097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D41F81-A2D1-ACE1-8FC3-FA54F8EF5680}"/>
              </a:ext>
            </a:extLst>
          </p:cNvPr>
          <p:cNvSpPr txBox="1"/>
          <p:nvPr/>
        </p:nvSpPr>
        <p:spPr>
          <a:xfrm>
            <a:off x="730045" y="1690688"/>
            <a:ext cx="3959942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GB" sz="2000" b="1" dirty="0">
                <a:solidFill>
                  <a:schemeClr val="bg1"/>
                </a:solidFill>
              </a:rPr>
              <a:t> Total Policies Sold: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dirty="0">
                <a:solidFill>
                  <a:schemeClr val="bg1"/>
                </a:solidFill>
              </a:rPr>
              <a:t>Most policies sold to 31–40 (10</a:t>
            </a:r>
            <a:r>
              <a:rPr lang="en-IN" altLang="en-US" dirty="0">
                <a:solidFill>
                  <a:schemeClr val="bg1"/>
                </a:solidFill>
              </a:rPr>
              <a:t>.5</a:t>
            </a:r>
            <a:r>
              <a:rPr lang="en-US" altLang="en-GB" dirty="0">
                <a:solidFill>
                  <a:schemeClr val="bg1"/>
                </a:solidFill>
              </a:rPr>
              <a:t>K), followed by 41–50 (6K).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dirty="0">
                <a:solidFill>
                  <a:schemeClr val="bg1"/>
                </a:solidFill>
              </a:rPr>
              <a:t>Sales drop after 50+, especially for 65+ and 18–24.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D666C8-278A-0602-BEDF-8D44B67CE645}"/>
              </a:ext>
            </a:extLst>
          </p:cNvPr>
          <p:cNvSpPr txBox="1"/>
          <p:nvPr/>
        </p:nvSpPr>
        <p:spPr>
          <a:xfrm>
            <a:off x="730045" y="3422477"/>
            <a:ext cx="419837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GB" sz="2000" b="1" dirty="0">
                <a:solidFill>
                  <a:schemeClr val="bg1"/>
                </a:solidFill>
              </a:rPr>
              <a:t>Recommendation: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dirty="0">
                <a:solidFill>
                  <a:schemeClr val="bg1"/>
                </a:solidFill>
              </a:rPr>
              <a:t>Offer family or retirement policies for 50+ segment.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dirty="0">
                <a:solidFill>
                  <a:schemeClr val="bg1"/>
                </a:solidFill>
              </a:rPr>
              <a:t>Introduce entry-level products or free trials for 18–24 segment.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dirty="0">
                <a:solidFill>
                  <a:schemeClr val="bg1"/>
                </a:solidFill>
              </a:rPr>
              <a:t>Phase out underperforming policies or bundle them with top-performing ones.</a:t>
            </a:r>
          </a:p>
        </p:txBody>
      </p:sp>
    </p:spTree>
    <p:extLst>
      <p:ext uri="{BB962C8B-B14F-4D97-AF65-F5344CB8AC3E}">
        <p14:creationId xmlns:p14="http://schemas.microsoft.com/office/powerpoint/2010/main" val="2999818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B49E8-70C3-EF94-2BE5-0133E01E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2CFC5-573D-E794-BA77-35D5DBFF9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digital awareness and adoption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among mid-to-young customer segments through targeted online campaigns and in-app promotions.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Refine and personalize policy offerings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on age-group preferences to improve conversion and retention.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 and validate revenue reporting by age group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ensure accuracy and better segment-level decision-making.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Launch focused promotional campaigns in Q4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replicate the strong revenue performance typically seen in March.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offline agents to actively promote digital channels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enabling gradual customer migration and improving operational efficiency.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226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0C8FD-8047-7865-FCAA-D851069DA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8271" y="2956335"/>
            <a:ext cx="4365522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altLang="en-GB" sz="7200" dirty="0">
                <a:solidFill>
                  <a:schemeClr val="bg1"/>
                </a:solidFill>
              </a:rPr>
              <a:t>Thank you!</a:t>
            </a:r>
            <a:endParaRPr lang="en-US" sz="7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940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756</Words>
  <Application>Microsoft Office PowerPoint</Application>
  <PresentationFormat>Widescreen</PresentationFormat>
  <Paragraphs>94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Shield insurance  Sales mode &amp; Customer Insights</vt:lpstr>
      <vt:lpstr>Core Service </vt:lpstr>
      <vt:lpstr>Operations </vt:lpstr>
      <vt:lpstr>Shield insurance uses multiple sales distribution channels</vt:lpstr>
      <vt:lpstr>Customer base</vt:lpstr>
      <vt:lpstr>Policies Offered </vt:lpstr>
      <vt:lpstr>Main focus /problem statement</vt:lpstr>
      <vt:lpstr>Power BI dashboard link :</vt:lpstr>
      <vt:lpstr>Overall Business Performance </vt:lpstr>
      <vt:lpstr>Customer Distribution </vt:lpstr>
      <vt:lpstr>Customer Distribution by city and age </vt:lpstr>
      <vt:lpstr>Customer &amp; Revenue Trend</vt:lpstr>
      <vt:lpstr>Sales Channel Performance</vt:lpstr>
      <vt:lpstr>Age Group Analysis by Sales mode </vt:lpstr>
      <vt:lpstr>Product Sales Performance</vt:lpstr>
      <vt:lpstr>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devendra kumar</dc:creator>
  <cp:lastModifiedBy>devendra kumar</cp:lastModifiedBy>
  <cp:revision>2</cp:revision>
  <dcterms:created xsi:type="dcterms:W3CDTF">2026-01-07T08:19:05Z</dcterms:created>
  <dcterms:modified xsi:type="dcterms:W3CDTF">2026-01-07T09:54:20Z</dcterms:modified>
</cp:coreProperties>
</file>